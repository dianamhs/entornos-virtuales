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aleway Heavy" charset="1" panose="00000000000000000000"/>
      <p:regular r:id="rId20"/>
    </p:embeddedFont>
    <p:embeddedFont>
      <p:font typeface="Raleway" charset="1" panose="00000000000000000000"/>
      <p:regular r:id="rId21"/>
    </p:embeddedFont>
    <p:embeddedFont>
      <p:font typeface="Open Sans" charset="1" panose="020B0606030504020204"/>
      <p:regular r:id="rId22"/>
    </p:embeddedFont>
    <p:embeddedFont>
      <p:font typeface="TT Interphases Bold" charset="1" panose="02000803060000020004"/>
      <p:regular r:id="rId23"/>
    </p:embeddedFont>
    <p:embeddedFont>
      <p:font typeface="Muli Heavy" charset="1" panose="00000A00000000000000"/>
      <p:regular r:id="rId24"/>
    </p:embeddedFont>
    <p:embeddedFont>
      <p:font typeface="TT Interphases" charset="1" panose="02000503020000020004"/>
      <p:regular r:id="rId25"/>
    </p:embeddedFont>
    <p:embeddedFont>
      <p:font typeface="Garet" charset="1" panose="00000000000000000000"/>
      <p:regular r:id="rId26"/>
    </p:embeddedFont>
    <p:embeddedFont>
      <p:font typeface="Raleway Bold" charset="1" panose="00000000000000000000"/>
      <p:regular r:id="rId27"/>
    </p:embeddedFont>
    <p:embeddedFont>
      <p:font typeface="Garet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search?q=Wikcionario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U" TargetMode="External" Type="http://schemas.openxmlformats.org/officeDocument/2006/relationships/hyperlink"/><Relationship Id="rId3" Target="https://www.google.com/search?q=Wikiviajes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Y" TargetMode="External" Type="http://schemas.openxmlformats.org/officeDocument/2006/relationships/hyperlink"/><Relationship Id="rId4" Target="https://www.google.com/search?q=iFixit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c" TargetMode="External" Type="http://schemas.openxmlformats.org/officeDocument/2006/relationships/hyperlink"/><Relationship Id="rId5" Target="https://www.google.com/search?q=Wikilibros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g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VIRTUALES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ENTORNOS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52500"/>
            <a:ext cx="14147893" cy="67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6"/>
              </a:lnSpc>
            </a:pPr>
            <a:r>
              <a:rPr lang="en-US" sz="3961">
                <a:solidFill>
                  <a:srgbClr val="27403B"/>
                </a:solidFill>
                <a:latin typeface="Open Sans"/>
                <a:ea typeface="Open Sans"/>
                <a:cs typeface="Open Sans"/>
                <a:sym typeface="Open Sans"/>
              </a:rPr>
              <a:t>Centro de Bachillerato Tecnológico Industrial y de Servicios.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095172" y="-5443335"/>
            <a:ext cx="7656149" cy="21747120"/>
            <a:chOff x="0" y="0"/>
            <a:chExt cx="2016434" cy="5727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434" cy="5727636"/>
            </a:xfrm>
            <a:custGeom>
              <a:avLst/>
              <a:gdLst/>
              <a:ahLst/>
              <a:cxnLst/>
              <a:rect r="r" b="b" t="t" l="l"/>
              <a:pathLst>
                <a:path h="5727636" w="2016434">
                  <a:moveTo>
                    <a:pt x="28314" y="0"/>
                  </a:moveTo>
                  <a:lnTo>
                    <a:pt x="1988121" y="0"/>
                  </a:lnTo>
                  <a:cubicBezTo>
                    <a:pt x="1995630" y="0"/>
                    <a:pt x="2002832" y="2983"/>
                    <a:pt x="2008142" y="8293"/>
                  </a:cubicBezTo>
                  <a:cubicBezTo>
                    <a:pt x="2013452" y="13603"/>
                    <a:pt x="2016434" y="20804"/>
                    <a:pt x="2016434" y="28314"/>
                  </a:cubicBezTo>
                  <a:lnTo>
                    <a:pt x="2016434" y="5699323"/>
                  </a:lnTo>
                  <a:cubicBezTo>
                    <a:pt x="2016434" y="5706832"/>
                    <a:pt x="2013452" y="5714034"/>
                    <a:pt x="2008142" y="5719344"/>
                  </a:cubicBezTo>
                  <a:cubicBezTo>
                    <a:pt x="2002832" y="5724653"/>
                    <a:pt x="1995630" y="5727636"/>
                    <a:pt x="1988121" y="5727636"/>
                  </a:cubicBezTo>
                  <a:lnTo>
                    <a:pt x="28314" y="5727636"/>
                  </a:lnTo>
                  <a:cubicBezTo>
                    <a:pt x="20804" y="5727636"/>
                    <a:pt x="13603" y="5724653"/>
                    <a:pt x="8293" y="5719344"/>
                  </a:cubicBezTo>
                  <a:cubicBezTo>
                    <a:pt x="2983" y="5714034"/>
                    <a:pt x="0" y="5706832"/>
                    <a:pt x="0" y="5699323"/>
                  </a:cubicBezTo>
                  <a:lnTo>
                    <a:pt x="0" y="28314"/>
                  </a:lnTo>
                  <a:cubicBezTo>
                    <a:pt x="0" y="20804"/>
                    <a:pt x="2983" y="13603"/>
                    <a:pt x="8293" y="8293"/>
                  </a:cubicBezTo>
                  <a:cubicBezTo>
                    <a:pt x="13603" y="2983"/>
                    <a:pt x="20804" y="0"/>
                    <a:pt x="2831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16434" cy="5765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16348" y="4171929"/>
            <a:ext cx="632635" cy="632635"/>
            <a:chOff x="0" y="0"/>
            <a:chExt cx="843514" cy="8435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43514" cy="8435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23126" y="14143"/>
              <a:ext cx="397262" cy="748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09"/>
                </a:lnSpc>
                <a:spcBef>
                  <a:spcPct val="0"/>
                </a:spcBef>
              </a:pPr>
              <a:r>
                <a:rPr lang="en-US" b="true" sz="3435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16348" y="5143500"/>
            <a:ext cx="632635" cy="632635"/>
            <a:chOff x="0" y="0"/>
            <a:chExt cx="843514" cy="84351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43514" cy="843514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23126" y="14143"/>
              <a:ext cx="397262" cy="748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09"/>
                </a:lnSpc>
                <a:spcBef>
                  <a:spcPct val="0"/>
                </a:spcBef>
              </a:pPr>
              <a:r>
                <a:rPr lang="en-US" b="true" sz="3435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16348" y="6084910"/>
            <a:ext cx="632635" cy="632635"/>
            <a:chOff x="0" y="0"/>
            <a:chExt cx="843514" cy="84351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43514" cy="843514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23126" y="14143"/>
              <a:ext cx="397262" cy="748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09"/>
                </a:lnSpc>
                <a:spcBef>
                  <a:spcPct val="0"/>
                </a:spcBef>
              </a:pPr>
              <a:r>
                <a:rPr lang="en-US" b="true" sz="3435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16348" y="7060445"/>
            <a:ext cx="632635" cy="632635"/>
            <a:chOff x="0" y="0"/>
            <a:chExt cx="843514" cy="84351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43514" cy="84351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23126" y="14143"/>
              <a:ext cx="397262" cy="748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09"/>
                </a:lnSpc>
                <a:spcBef>
                  <a:spcPct val="0"/>
                </a:spcBef>
              </a:pPr>
              <a:r>
                <a:rPr lang="en-US" b="true" sz="3435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483896" y="2073697"/>
            <a:ext cx="8997094" cy="119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51"/>
              </a:lnSpc>
              <a:spcBef>
                <a:spcPct val="0"/>
              </a:spcBef>
            </a:pPr>
            <a:r>
              <a:rPr lang="en-US" b="true" sz="7621" spc="144">
                <a:solidFill>
                  <a:srgbClr val="000000"/>
                </a:solidFill>
                <a:latin typeface="Muli Heavy"/>
                <a:ea typeface="Muli Heavy"/>
                <a:cs typeface="Muli Heavy"/>
                <a:sym typeface="Muli Heavy"/>
              </a:rPr>
              <a:t>INTEGRANTES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644745" y="673263"/>
              <a:ext cx="21959466" cy="11434829"/>
              <a:chOff x="0" y="0"/>
              <a:chExt cx="6247007" cy="32529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4593324" y="5118441"/>
            <a:ext cx="8180908" cy="61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>
                <a:solidFill>
                  <a:srgbClr val="000A1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Diana Michelle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93324" y="6075385"/>
            <a:ext cx="6481110" cy="61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>
                <a:solidFill>
                  <a:srgbClr val="000A1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Joana Stefany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593324" y="4162404"/>
            <a:ext cx="6481110" cy="61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>
                <a:solidFill>
                  <a:srgbClr val="000A1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Evelyn Yulissa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593324" y="7032328"/>
            <a:ext cx="6481110" cy="61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>
                <a:solidFill>
                  <a:srgbClr val="000A1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Abel Isaid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83896" y="2073697"/>
            <a:ext cx="8997094" cy="119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51"/>
              </a:lnSpc>
              <a:spcBef>
                <a:spcPct val="0"/>
              </a:spcBef>
            </a:pPr>
            <a:r>
              <a:rPr lang="en-US" b="true" sz="7621" spc="144">
                <a:solidFill>
                  <a:srgbClr val="000000"/>
                </a:solidFill>
                <a:latin typeface="Muli Heavy"/>
                <a:ea typeface="Muli Heavy"/>
                <a:cs typeface="Muli Heavy"/>
                <a:sym typeface="Muli Heavy"/>
              </a:rPr>
              <a:t>INTEGRANTES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238752"/>
            <a:ext cx="18288000" cy="10081419"/>
            <a:chOff x="0" y="0"/>
            <a:chExt cx="24384000" cy="134418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7228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05526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9731266" y="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36411" y="2014217"/>
            <a:ext cx="7049480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¿QUE ES?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36411" y="3368309"/>
            <a:ext cx="6133186" cy="483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1"/>
              </a:lnSpc>
            </a:pPr>
            <a:r>
              <a:rPr lang="en-US" sz="25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 entorno virtual es un espacio digital generado por computadora donde los usuarios pueden interactuar en tiempo real. Se utilizan en diversos campos, como la educación para facilitar la enseñanza y el aprendizaje en línea, la tecnología de la información para gestionar software y sistemas, y el entretenimiento.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616512" y="3637731"/>
            <a:ext cx="6243396" cy="3283461"/>
          </a:xfrm>
          <a:custGeom>
            <a:avLst/>
            <a:gdLst/>
            <a:ahLst/>
            <a:cxnLst/>
            <a:rect r="r" b="b" t="t" l="l"/>
            <a:pathLst>
              <a:path h="3283461" w="6243396">
                <a:moveTo>
                  <a:pt x="0" y="0"/>
                </a:moveTo>
                <a:lnTo>
                  <a:pt x="6243396" y="0"/>
                </a:lnTo>
                <a:lnTo>
                  <a:pt x="6243396" y="3283461"/>
                </a:lnTo>
                <a:lnTo>
                  <a:pt x="0" y="328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5" t="-853" r="-206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6936736" cy="39019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936736" cy="3901914"/>
              </a:xfrm>
              <a:custGeom>
                <a:avLst/>
                <a:gdLst/>
                <a:ahLst/>
                <a:cxnLst/>
                <a:rect r="r" b="b" t="t" l="l"/>
                <a:pathLst>
                  <a:path h="3901914" w="6936736">
                    <a:moveTo>
                      <a:pt x="0" y="0"/>
                    </a:moveTo>
                    <a:lnTo>
                      <a:pt x="6936736" y="0"/>
                    </a:lnTo>
                    <a:lnTo>
                      <a:pt x="6936736" y="3901914"/>
                    </a:lnTo>
                    <a:lnTo>
                      <a:pt x="0" y="390191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936736" cy="3930489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13493"/>
              <a:ext cx="23748659" cy="13039984"/>
              <a:chOff x="0" y="0"/>
              <a:chExt cx="6755994" cy="37096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55995" cy="3709601"/>
              </a:xfrm>
              <a:custGeom>
                <a:avLst/>
                <a:gdLst/>
                <a:ahLst/>
                <a:cxnLst/>
                <a:rect r="r" b="b" t="t" l="l"/>
                <a:pathLst>
                  <a:path h="3709601" w="6755995">
                    <a:moveTo>
                      <a:pt x="0" y="0"/>
                    </a:moveTo>
                    <a:lnTo>
                      <a:pt x="6755995" y="0"/>
                    </a:lnTo>
                    <a:lnTo>
                      <a:pt x="6755995" y="3709601"/>
                    </a:lnTo>
                    <a:lnTo>
                      <a:pt x="0" y="370960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755994" cy="373817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7124"/>
              <a:ext cx="23011770" cy="12227143"/>
              <a:chOff x="0" y="0"/>
              <a:chExt cx="6546365" cy="34783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46365" cy="3478365"/>
              </a:xfrm>
              <a:custGeom>
                <a:avLst/>
                <a:gdLst/>
                <a:ahLst/>
                <a:cxnLst/>
                <a:rect r="r" b="b" t="t" l="l"/>
                <a:pathLst>
                  <a:path h="3478365" w="6546365">
                    <a:moveTo>
                      <a:pt x="0" y="0"/>
                    </a:moveTo>
                    <a:lnTo>
                      <a:pt x="6546365" y="0"/>
                    </a:lnTo>
                    <a:lnTo>
                      <a:pt x="6546365" y="3478365"/>
                    </a:lnTo>
                    <a:lnTo>
                      <a:pt x="0" y="34783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546365" cy="3506940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311982" cy="13716000"/>
              <a:chOff x="0" y="0"/>
              <a:chExt cx="851750" cy="27093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1750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851750">
                    <a:moveTo>
                      <a:pt x="0" y="0"/>
                    </a:moveTo>
                    <a:lnTo>
                      <a:pt x="851750" y="0"/>
                    </a:lnTo>
                    <a:lnTo>
                      <a:pt x="851750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51750" cy="27379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3030" y="339916"/>
              <a:ext cx="4311982" cy="12980179"/>
              <a:chOff x="0" y="0"/>
              <a:chExt cx="851750" cy="256398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1750" cy="2563986"/>
              </a:xfrm>
              <a:custGeom>
                <a:avLst/>
                <a:gdLst/>
                <a:ahLst/>
                <a:cxnLst/>
                <a:rect r="r" b="b" t="t" l="l"/>
                <a:pathLst>
                  <a:path h="2563986" w="851750">
                    <a:moveTo>
                      <a:pt x="0" y="0"/>
                    </a:moveTo>
                    <a:lnTo>
                      <a:pt x="851750" y="0"/>
                    </a:lnTo>
                    <a:lnTo>
                      <a:pt x="851750" y="2563986"/>
                    </a:lnTo>
                    <a:lnTo>
                      <a:pt x="0" y="2563986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51750" cy="2592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36200" y="736787"/>
              <a:ext cx="4372075" cy="12213698"/>
              <a:chOff x="0" y="0"/>
              <a:chExt cx="863620" cy="241258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63620" cy="2412582"/>
              </a:xfrm>
              <a:custGeom>
                <a:avLst/>
                <a:gdLst/>
                <a:ahLst/>
                <a:cxnLst/>
                <a:rect r="r" b="b" t="t" l="l"/>
                <a:pathLst>
                  <a:path h="2412582" w="863620">
                    <a:moveTo>
                      <a:pt x="0" y="0"/>
                    </a:moveTo>
                    <a:lnTo>
                      <a:pt x="863620" y="0"/>
                    </a:lnTo>
                    <a:lnTo>
                      <a:pt x="863620" y="2412582"/>
                    </a:lnTo>
                    <a:lnTo>
                      <a:pt x="0" y="2412582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63620" cy="2441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892629" y="2846704"/>
            <a:ext cx="4446013" cy="2704482"/>
          </a:xfrm>
          <a:custGeom>
            <a:avLst/>
            <a:gdLst/>
            <a:ahLst/>
            <a:cxnLst/>
            <a:rect r="r" b="b" t="t" l="l"/>
            <a:pathLst>
              <a:path h="2704482" w="4446013">
                <a:moveTo>
                  <a:pt x="0" y="0"/>
                </a:moveTo>
                <a:lnTo>
                  <a:pt x="4446013" y="0"/>
                </a:lnTo>
                <a:lnTo>
                  <a:pt x="4446013" y="2704481"/>
                </a:lnTo>
                <a:lnTo>
                  <a:pt x="0" y="27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07" t="-38463" r="-12647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92629" y="5551185"/>
            <a:ext cx="4446013" cy="2872686"/>
          </a:xfrm>
          <a:custGeom>
            <a:avLst/>
            <a:gdLst/>
            <a:ahLst/>
            <a:cxnLst/>
            <a:rect r="r" b="b" t="t" l="l"/>
            <a:pathLst>
              <a:path h="2872686" w="4446013">
                <a:moveTo>
                  <a:pt x="0" y="0"/>
                </a:moveTo>
                <a:lnTo>
                  <a:pt x="4446013" y="0"/>
                </a:lnTo>
                <a:lnTo>
                  <a:pt x="4446013" y="2872686"/>
                </a:lnTo>
                <a:lnTo>
                  <a:pt x="0" y="2872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90" t="-7941" r="-11117" b="-661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81568" y="1885039"/>
            <a:ext cx="1091724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500" spc="14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OBJETIVOS PRINCIPALES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55353" y="3529632"/>
            <a:ext cx="8769677" cy="161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Fomentar un aprendizaje activo entre los estudiantes creando habilidades de resolución de dudas así como también promover la colaboración en espacios donde se puedan realizar proyectos y facilitar la interacción entre los usuarios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55353" y="5334993"/>
            <a:ext cx="8769677" cy="120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Facilitar la instalación de un conjunto de específicas bibliotecas y herramientas sin afectar el sistema operativo, esto dentro de los entornos virtuales de desarrollo de software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38642" y="5401668"/>
            <a:ext cx="795763" cy="4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55353" y="6920853"/>
            <a:ext cx="8769677" cy="120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Permitir organizar contenido y actividades desarrolladas de manera virtual y ampliar el conocimiento de una forma interactiva.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38642" y="3698077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8642" y="6987528"/>
            <a:ext cx="795763" cy="4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022273"/>
            <a:chOff x="0" y="0"/>
            <a:chExt cx="24384000" cy="133630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363031"/>
              <a:chOff x="0" y="0"/>
              <a:chExt cx="6894699" cy="377846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894699" cy="3778464"/>
              </a:xfrm>
              <a:custGeom>
                <a:avLst/>
                <a:gdLst/>
                <a:ahLst/>
                <a:cxnLst/>
                <a:rect r="r" b="b" t="t" l="l"/>
                <a:pathLst>
                  <a:path h="3778464" w="6894699">
                    <a:moveTo>
                      <a:pt x="0" y="0"/>
                    </a:moveTo>
                    <a:lnTo>
                      <a:pt x="6894699" y="0"/>
                    </a:lnTo>
                    <a:lnTo>
                      <a:pt x="6894699" y="3778464"/>
                    </a:lnTo>
                    <a:lnTo>
                      <a:pt x="0" y="377846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894699" cy="3807039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5426"/>
              <a:ext cx="23748659" cy="12704411"/>
              <a:chOff x="0" y="0"/>
              <a:chExt cx="6715054" cy="359223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15054" cy="3592237"/>
              </a:xfrm>
              <a:custGeom>
                <a:avLst/>
                <a:gdLst/>
                <a:ahLst/>
                <a:cxnLst/>
                <a:rect r="r" b="b" t="t" l="l"/>
                <a:pathLst>
                  <a:path h="3592237" w="6715054">
                    <a:moveTo>
                      <a:pt x="0" y="0"/>
                    </a:moveTo>
                    <a:lnTo>
                      <a:pt x="6715054" y="0"/>
                    </a:lnTo>
                    <a:lnTo>
                      <a:pt x="6715054" y="3592237"/>
                    </a:lnTo>
                    <a:lnTo>
                      <a:pt x="0" y="359223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715054" cy="3620812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18155"/>
              <a:ext cx="23011770" cy="11912488"/>
              <a:chOff x="0" y="0"/>
              <a:chExt cx="6506694" cy="33683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06694" cy="3368316"/>
              </a:xfrm>
              <a:custGeom>
                <a:avLst/>
                <a:gdLst/>
                <a:ahLst/>
                <a:cxnLst/>
                <a:rect r="r" b="b" t="t" l="l"/>
                <a:pathLst>
                  <a:path h="3368316" w="6506694">
                    <a:moveTo>
                      <a:pt x="0" y="0"/>
                    </a:moveTo>
                    <a:lnTo>
                      <a:pt x="6506694" y="0"/>
                    </a:lnTo>
                    <a:lnTo>
                      <a:pt x="6506694" y="3368316"/>
                    </a:lnTo>
                    <a:lnTo>
                      <a:pt x="0" y="336831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506694" cy="3396891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311982" cy="13363031"/>
              <a:chOff x="0" y="0"/>
              <a:chExt cx="846588" cy="262361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46588" cy="2623615"/>
              </a:xfrm>
              <a:custGeom>
                <a:avLst/>
                <a:gdLst/>
                <a:ahLst/>
                <a:cxnLst/>
                <a:rect r="r" b="b" t="t" l="l"/>
                <a:pathLst>
                  <a:path h="2623615" w="846588">
                    <a:moveTo>
                      <a:pt x="0" y="0"/>
                    </a:moveTo>
                    <a:lnTo>
                      <a:pt x="846588" y="0"/>
                    </a:lnTo>
                    <a:lnTo>
                      <a:pt x="846588" y="2623615"/>
                    </a:lnTo>
                    <a:lnTo>
                      <a:pt x="0" y="262361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46588" cy="26521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3030" y="331169"/>
              <a:ext cx="4311982" cy="12646145"/>
              <a:chOff x="0" y="0"/>
              <a:chExt cx="846588" cy="24828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46588" cy="2482866"/>
              </a:xfrm>
              <a:custGeom>
                <a:avLst/>
                <a:gdLst/>
                <a:ahLst/>
                <a:cxnLst/>
                <a:rect r="r" b="b" t="t" l="l"/>
                <a:pathLst>
                  <a:path h="2482866" w="846588">
                    <a:moveTo>
                      <a:pt x="0" y="0"/>
                    </a:moveTo>
                    <a:lnTo>
                      <a:pt x="846588" y="0"/>
                    </a:lnTo>
                    <a:lnTo>
                      <a:pt x="846588" y="2482866"/>
                    </a:lnTo>
                    <a:lnTo>
                      <a:pt x="0" y="2482866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46588" cy="25114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36200" y="717826"/>
              <a:ext cx="4372075" cy="11899389"/>
              <a:chOff x="0" y="0"/>
              <a:chExt cx="858386" cy="233625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58386" cy="2336253"/>
              </a:xfrm>
              <a:custGeom>
                <a:avLst/>
                <a:gdLst/>
                <a:ahLst/>
                <a:cxnLst/>
                <a:rect r="r" b="b" t="t" l="l"/>
                <a:pathLst>
                  <a:path h="2336253" w="858386">
                    <a:moveTo>
                      <a:pt x="0" y="0"/>
                    </a:moveTo>
                    <a:lnTo>
                      <a:pt x="858386" y="0"/>
                    </a:lnTo>
                    <a:lnTo>
                      <a:pt x="858386" y="2336253"/>
                    </a:lnTo>
                    <a:lnTo>
                      <a:pt x="0" y="2336253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58386" cy="2364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929084" y="1047750"/>
            <a:ext cx="13815190" cy="127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VENTAJAS Y DESVENTAJAS DE LOS ENTORNOS VIRTUALES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45283" y="3930758"/>
            <a:ext cx="4636100" cy="3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032523" y="3686813"/>
            <a:ext cx="4636100" cy="505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Falta de interacción cara a cara 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Necesidad de autodisciplina 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Dependencia de la tecnología 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Desigualdad 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Menor formación práctica 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Distracción  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Desafíos de evaluación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7893" y="3686813"/>
            <a:ext cx="4514785" cy="454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19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Flexibilidad de horarios y lugar</a:t>
            </a:r>
          </a:p>
          <a:p>
            <a:pPr algn="l">
              <a:lnSpc>
                <a:spcPts val="3014"/>
              </a:lnSpc>
            </a:pPr>
            <a:r>
              <a:rPr lang="en-US" sz="19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3014"/>
              </a:lnSpc>
            </a:pPr>
            <a:r>
              <a:rPr lang="en-US" sz="19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Ahorro de tiempo y dinero en transporte </a:t>
            </a: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  <a:r>
              <a:rPr lang="en-US" sz="19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Acceso a una gran variedad de recursos </a:t>
            </a: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  <a:r>
              <a:rPr lang="en-US" sz="19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Desarrollo  habilidades  tecnológicas</a:t>
            </a: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  <a:r>
              <a:rPr lang="en-US" sz="19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Estudio y revisión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49890" y="2878799"/>
            <a:ext cx="4784650" cy="48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27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VENTAJAS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36679" y="2906168"/>
            <a:ext cx="4470279" cy="46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3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DESVENTAJAS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6936736" cy="39019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936736" cy="3901914"/>
              </a:xfrm>
              <a:custGeom>
                <a:avLst/>
                <a:gdLst/>
                <a:ahLst/>
                <a:cxnLst/>
                <a:rect r="r" b="b" t="t" l="l"/>
                <a:pathLst>
                  <a:path h="3901914" w="6936736">
                    <a:moveTo>
                      <a:pt x="0" y="0"/>
                    </a:moveTo>
                    <a:lnTo>
                      <a:pt x="6936736" y="0"/>
                    </a:lnTo>
                    <a:lnTo>
                      <a:pt x="6936736" y="3901914"/>
                    </a:lnTo>
                    <a:lnTo>
                      <a:pt x="0" y="390191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936736" cy="3930489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13493"/>
              <a:ext cx="23748659" cy="13039984"/>
              <a:chOff x="0" y="0"/>
              <a:chExt cx="6755994" cy="37096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55995" cy="3709601"/>
              </a:xfrm>
              <a:custGeom>
                <a:avLst/>
                <a:gdLst/>
                <a:ahLst/>
                <a:cxnLst/>
                <a:rect r="r" b="b" t="t" l="l"/>
                <a:pathLst>
                  <a:path h="3709601" w="6755995">
                    <a:moveTo>
                      <a:pt x="0" y="0"/>
                    </a:moveTo>
                    <a:lnTo>
                      <a:pt x="6755995" y="0"/>
                    </a:lnTo>
                    <a:lnTo>
                      <a:pt x="6755995" y="3709601"/>
                    </a:lnTo>
                    <a:lnTo>
                      <a:pt x="0" y="370960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755994" cy="373817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7124"/>
              <a:ext cx="23011770" cy="12227143"/>
              <a:chOff x="0" y="0"/>
              <a:chExt cx="6546365" cy="34783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46365" cy="3478365"/>
              </a:xfrm>
              <a:custGeom>
                <a:avLst/>
                <a:gdLst/>
                <a:ahLst/>
                <a:cxnLst/>
                <a:rect r="r" b="b" t="t" l="l"/>
                <a:pathLst>
                  <a:path h="3478365" w="6546365">
                    <a:moveTo>
                      <a:pt x="0" y="0"/>
                    </a:moveTo>
                    <a:lnTo>
                      <a:pt x="6546365" y="0"/>
                    </a:lnTo>
                    <a:lnTo>
                      <a:pt x="6546365" y="3478365"/>
                    </a:lnTo>
                    <a:lnTo>
                      <a:pt x="0" y="34783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546365" cy="3506940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311982" cy="13716000"/>
              <a:chOff x="0" y="0"/>
              <a:chExt cx="851750" cy="27093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1750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851750">
                    <a:moveTo>
                      <a:pt x="0" y="0"/>
                    </a:moveTo>
                    <a:lnTo>
                      <a:pt x="851750" y="0"/>
                    </a:lnTo>
                    <a:lnTo>
                      <a:pt x="851750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51750" cy="27379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3030" y="339916"/>
              <a:ext cx="4311982" cy="12980179"/>
              <a:chOff x="0" y="0"/>
              <a:chExt cx="851750" cy="256398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1750" cy="2563986"/>
              </a:xfrm>
              <a:custGeom>
                <a:avLst/>
                <a:gdLst/>
                <a:ahLst/>
                <a:cxnLst/>
                <a:rect r="r" b="b" t="t" l="l"/>
                <a:pathLst>
                  <a:path h="2563986" w="851750">
                    <a:moveTo>
                      <a:pt x="0" y="0"/>
                    </a:moveTo>
                    <a:lnTo>
                      <a:pt x="851750" y="0"/>
                    </a:lnTo>
                    <a:lnTo>
                      <a:pt x="851750" y="2563986"/>
                    </a:lnTo>
                    <a:lnTo>
                      <a:pt x="0" y="2563986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51750" cy="2592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36200" y="736787"/>
              <a:ext cx="4372075" cy="12213698"/>
              <a:chOff x="0" y="0"/>
              <a:chExt cx="863620" cy="241258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63620" cy="2412582"/>
              </a:xfrm>
              <a:custGeom>
                <a:avLst/>
                <a:gdLst/>
                <a:ahLst/>
                <a:cxnLst/>
                <a:rect r="r" b="b" t="t" l="l"/>
                <a:pathLst>
                  <a:path h="2412582" w="863620">
                    <a:moveTo>
                      <a:pt x="0" y="0"/>
                    </a:moveTo>
                    <a:lnTo>
                      <a:pt x="863620" y="0"/>
                    </a:lnTo>
                    <a:lnTo>
                      <a:pt x="863620" y="2412582"/>
                    </a:lnTo>
                    <a:lnTo>
                      <a:pt x="0" y="2412582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63620" cy="2441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531202" y="1554080"/>
            <a:ext cx="13815190" cy="127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TIPOS DE ENTORNOS VIRTUALES </a:t>
            </a:r>
          </a:p>
          <a:p>
            <a:pPr algn="l">
              <a:lnSpc>
                <a:spcPts val="501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045283" y="3930758"/>
            <a:ext cx="4636100" cy="3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33321" y="3683620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70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3518950"/>
            <a:ext cx="5558831" cy="31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3"/>
              </a:lnSpc>
            </a:pPr>
            <a:r>
              <a:rPr lang="en-US" sz="20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 blogs de instituciones educativas, grupos de investigadores o docentes individuales que comparten sus experiencias, investigaciones y conocimientos. Se centran en la comunicación y la discusión en torno a temas específicos. </a:t>
            </a:r>
          </a:p>
          <a:p>
            <a:pPr algn="just">
              <a:lnSpc>
                <a:spcPts val="310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81158" y="6978334"/>
            <a:ext cx="547926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6659966"/>
            <a:ext cx="3757625" cy="179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6"/>
              </a:lnSpc>
            </a:pPr>
            <a:r>
              <a:rPr lang="en-US" sz="18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Ejemplos:</a:t>
            </a:r>
          </a:p>
          <a:p>
            <a:pPr algn="l">
              <a:lnSpc>
                <a:spcPts val="2876"/>
              </a:lnSpc>
            </a:pPr>
            <a:r>
              <a:rPr lang="en-US" sz="18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Trello</a:t>
            </a:r>
          </a:p>
          <a:p>
            <a:pPr algn="l">
              <a:lnSpc>
                <a:spcPts val="2876"/>
              </a:lnSpc>
            </a:pPr>
            <a:r>
              <a:rPr lang="en-US" sz="18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Asana</a:t>
            </a:r>
          </a:p>
          <a:p>
            <a:pPr algn="l">
              <a:lnSpc>
                <a:spcPts val="2876"/>
              </a:lnSpc>
            </a:pPr>
            <a:r>
              <a:rPr lang="en-US" sz="18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Slack</a:t>
            </a:r>
          </a:p>
          <a:p>
            <a:pPr algn="l">
              <a:lnSpc>
                <a:spcPts val="2876"/>
              </a:lnSpc>
            </a:pPr>
            <a:r>
              <a:rPr lang="en-US" sz="18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Microsoft Teams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22636" y="6826431"/>
            <a:ext cx="3304431" cy="197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7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Ejemplos: </a:t>
            </a:r>
          </a:p>
          <a:p>
            <a:pPr algn="l">
              <a:lnSpc>
                <a:spcPts val="3192"/>
              </a:lnSpc>
            </a:pPr>
            <a:r>
              <a:rPr lang="en-US" sz="207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Moodle, Google Classroom y Canvas LMS son algunos de los EVA más populares.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5505" y="2791240"/>
            <a:ext cx="738431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Plataformas de e-learning (LMS)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69978" y="2730608"/>
            <a:ext cx="3858520" cy="55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1"/>
              </a:lnSpc>
            </a:pPr>
            <a:r>
              <a:rPr lang="en-US" sz="302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Blogs Educativos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04018" y="6893106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04018" y="3683620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70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25146" y="3518950"/>
            <a:ext cx="5558831" cy="31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3"/>
              </a:lnSpc>
            </a:pPr>
            <a:r>
              <a:rPr lang="en-US" sz="20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 sistemas de administración del aprendizaje diseñados específicamente para la educación en línea. </a:t>
            </a:r>
          </a:p>
          <a:p>
            <a:pPr algn="just">
              <a:lnSpc>
                <a:spcPts val="3103"/>
              </a:lnSpc>
            </a:pPr>
            <a:r>
              <a:rPr lang="en-US" sz="20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Permiten crear y organizar cursos con módulos, gestionar la participación de los estudiantes y ofrecer herramientas de comunicación. </a:t>
            </a:r>
          </a:p>
          <a:p>
            <a:pPr algn="just">
              <a:lnSpc>
                <a:spcPts val="310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6936736" cy="39019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936736" cy="3901914"/>
              </a:xfrm>
              <a:custGeom>
                <a:avLst/>
                <a:gdLst/>
                <a:ahLst/>
                <a:cxnLst/>
                <a:rect r="r" b="b" t="t" l="l"/>
                <a:pathLst>
                  <a:path h="3901914" w="6936736">
                    <a:moveTo>
                      <a:pt x="0" y="0"/>
                    </a:moveTo>
                    <a:lnTo>
                      <a:pt x="6936736" y="0"/>
                    </a:lnTo>
                    <a:lnTo>
                      <a:pt x="6936736" y="3901914"/>
                    </a:lnTo>
                    <a:lnTo>
                      <a:pt x="0" y="390191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936736" cy="3930489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13493"/>
              <a:ext cx="23748659" cy="13039984"/>
              <a:chOff x="0" y="0"/>
              <a:chExt cx="6755994" cy="37096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55995" cy="3709601"/>
              </a:xfrm>
              <a:custGeom>
                <a:avLst/>
                <a:gdLst/>
                <a:ahLst/>
                <a:cxnLst/>
                <a:rect r="r" b="b" t="t" l="l"/>
                <a:pathLst>
                  <a:path h="3709601" w="6755995">
                    <a:moveTo>
                      <a:pt x="0" y="0"/>
                    </a:moveTo>
                    <a:lnTo>
                      <a:pt x="6755995" y="0"/>
                    </a:lnTo>
                    <a:lnTo>
                      <a:pt x="6755995" y="3709601"/>
                    </a:lnTo>
                    <a:lnTo>
                      <a:pt x="0" y="370960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755994" cy="373817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7124"/>
              <a:ext cx="23011770" cy="12227143"/>
              <a:chOff x="0" y="0"/>
              <a:chExt cx="6546365" cy="34783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46365" cy="3478365"/>
              </a:xfrm>
              <a:custGeom>
                <a:avLst/>
                <a:gdLst/>
                <a:ahLst/>
                <a:cxnLst/>
                <a:rect r="r" b="b" t="t" l="l"/>
                <a:pathLst>
                  <a:path h="3478365" w="6546365">
                    <a:moveTo>
                      <a:pt x="0" y="0"/>
                    </a:moveTo>
                    <a:lnTo>
                      <a:pt x="6546365" y="0"/>
                    </a:lnTo>
                    <a:lnTo>
                      <a:pt x="6546365" y="3478365"/>
                    </a:lnTo>
                    <a:lnTo>
                      <a:pt x="0" y="34783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546365" cy="3506940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311982" cy="13716000"/>
              <a:chOff x="0" y="0"/>
              <a:chExt cx="851750" cy="27093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1750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851750">
                    <a:moveTo>
                      <a:pt x="0" y="0"/>
                    </a:moveTo>
                    <a:lnTo>
                      <a:pt x="851750" y="0"/>
                    </a:lnTo>
                    <a:lnTo>
                      <a:pt x="851750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51750" cy="27379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3030" y="339916"/>
              <a:ext cx="4311982" cy="12980179"/>
              <a:chOff x="0" y="0"/>
              <a:chExt cx="851750" cy="256398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1750" cy="2563986"/>
              </a:xfrm>
              <a:custGeom>
                <a:avLst/>
                <a:gdLst/>
                <a:ahLst/>
                <a:cxnLst/>
                <a:rect r="r" b="b" t="t" l="l"/>
                <a:pathLst>
                  <a:path h="2563986" w="851750">
                    <a:moveTo>
                      <a:pt x="0" y="0"/>
                    </a:moveTo>
                    <a:lnTo>
                      <a:pt x="851750" y="0"/>
                    </a:lnTo>
                    <a:lnTo>
                      <a:pt x="851750" y="2563986"/>
                    </a:lnTo>
                    <a:lnTo>
                      <a:pt x="0" y="2563986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51750" cy="2592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36200" y="736787"/>
              <a:ext cx="4372075" cy="12213698"/>
              <a:chOff x="0" y="0"/>
              <a:chExt cx="863620" cy="241258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63620" cy="2412582"/>
              </a:xfrm>
              <a:custGeom>
                <a:avLst/>
                <a:gdLst/>
                <a:ahLst/>
                <a:cxnLst/>
                <a:rect r="r" b="b" t="t" l="l"/>
                <a:pathLst>
                  <a:path h="2412582" w="863620">
                    <a:moveTo>
                      <a:pt x="0" y="0"/>
                    </a:moveTo>
                    <a:lnTo>
                      <a:pt x="863620" y="0"/>
                    </a:lnTo>
                    <a:lnTo>
                      <a:pt x="863620" y="2412582"/>
                    </a:lnTo>
                    <a:lnTo>
                      <a:pt x="0" y="2412582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63620" cy="2441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3045283" y="3930758"/>
            <a:ext cx="4636100" cy="3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701150" y="4080513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70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05559" y="3613117"/>
            <a:ext cx="5052059" cy="33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92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 un subconjunto de los entornos virtuales, enfocados en la interacción social, p</a:t>
            </a:r>
            <a:r>
              <a:rPr lang="en-US" sz="192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ermiten compartir contenido como texto, imágenes, videos y enlaces asi como facilitan la creación de comunidades en línea y el establecimiento de relaciones personales o profesionales.</a:t>
            </a:r>
          </a:p>
          <a:p>
            <a:pPr algn="l">
              <a:lnSpc>
                <a:spcPts val="297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040916" y="4124931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05145" y="7132315"/>
            <a:ext cx="4636100" cy="115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Ejemplos : Facebook, YouTube, Instagram y WhatsApp. </a:t>
            </a:r>
          </a:p>
          <a:p>
            <a:pPr algn="l">
              <a:lnSpc>
                <a:spcPts val="309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123633" y="7419645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1202" y="1554080"/>
            <a:ext cx="13815190" cy="127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TIPOS DE ENTORNOS VIRTUALES </a:t>
            </a:r>
          </a:p>
          <a:p>
            <a:pPr algn="l">
              <a:lnSpc>
                <a:spcPts val="501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540017" y="2721083"/>
            <a:ext cx="1823316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32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Wikis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34653" y="2851720"/>
            <a:ext cx="5105297" cy="46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55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REDES SOCIALES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1150" y="7198990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45283" y="3729685"/>
            <a:ext cx="4636100" cy="310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 páginas web colaborativas donde los usuarios pueden crear y editar contenido de forma conjunta. </a:t>
            </a: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utilizan como estrategia didáctica para construir conocimiento de manera colaborativa y en equipo. </a:t>
            </a:r>
          </a:p>
          <a:p>
            <a:pPr algn="l">
              <a:lnSpc>
                <a:spcPts val="309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3162747" y="7305096"/>
            <a:ext cx="3304431" cy="141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187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l">
              <a:lnSpc>
                <a:spcPts val="2884"/>
              </a:lnSpc>
            </a:pPr>
            <a:r>
              <a:rPr lang="en-US" sz="187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Wikipedia,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2" tooltip="https://www.google.com/search?q=Wikcionario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U"/>
              </a:rPr>
              <a:t>Wikcionario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3" tooltip="https://www.google.com/search?q=Wikiviajes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Y"/>
              </a:rPr>
              <a:t>Wikiviajes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, 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4" tooltip="https://www.google.com/search?q=iFixit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c"/>
              </a:rPr>
              <a:t>iFixit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y 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5" tooltip="https://www.google.com/search?q=Wikilibros&amp;rlz=1C1GCEA_enMX1187&amp;oq=&amp;gs_lcrp=EgZjaHJvbWUqCQgBEEUYOxjCAzIJCAAQRRg7GMIDMgkIARBFGDsYwgMyCQgCEEUYOxjCAzIJCAMQRRg7GMIDMgkIBBBFGDsYwgMyCQgFEEUYOxjCAzIJCAYQRRg7GMIDMgkIBxBFGDsYwgPSAQkxNDk1ajBqMTWoAgiwAgHxBX358RigOgK-8QV9-fEYoDoCvg&amp;sourceid=chrome&amp;ie=UTF-8&amp;ved=2ahUKEwirjMfW1ZyRAxWxj-4BHZ7pMnQQgK4QegYIAQgAEAg"/>
              </a:rPr>
              <a:t>Wikilibros</a:t>
            </a:r>
            <a:r>
              <a:rPr lang="en-US" sz="1873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96008" y="333297"/>
            <a:ext cx="18091992" cy="9620406"/>
            <a:chOff x="0" y="0"/>
            <a:chExt cx="24122656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122656" cy="12827209"/>
              <a:chOff x="0" y="0"/>
              <a:chExt cx="6862389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862389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862389">
                    <a:moveTo>
                      <a:pt x="0" y="0"/>
                    </a:moveTo>
                    <a:lnTo>
                      <a:pt x="6862389" y="0"/>
                    </a:lnTo>
                    <a:lnTo>
                      <a:pt x="6862389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862389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3905" y="293179"/>
              <a:ext cx="23494125" cy="12194998"/>
              <a:chOff x="0" y="0"/>
              <a:chExt cx="6683585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83584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683584">
                    <a:moveTo>
                      <a:pt x="0" y="0"/>
                    </a:moveTo>
                    <a:lnTo>
                      <a:pt x="6683584" y="0"/>
                    </a:lnTo>
                    <a:lnTo>
                      <a:pt x="6683584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683585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0610" y="689359"/>
              <a:ext cx="22765133" cy="11434829"/>
              <a:chOff x="0" y="0"/>
              <a:chExt cx="6476202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76202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476202">
                    <a:moveTo>
                      <a:pt x="0" y="0"/>
                    </a:moveTo>
                    <a:lnTo>
                      <a:pt x="6476202" y="0"/>
                    </a:lnTo>
                    <a:lnTo>
                      <a:pt x="6476202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476202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265767" cy="12827209"/>
              <a:chOff x="0" y="0"/>
              <a:chExt cx="842621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42621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42621">
                    <a:moveTo>
                      <a:pt x="0" y="0"/>
                    </a:moveTo>
                    <a:lnTo>
                      <a:pt x="842621" y="0"/>
                    </a:lnTo>
                    <a:lnTo>
                      <a:pt x="842621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42621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0104" y="317890"/>
              <a:ext cx="4265767" cy="12139068"/>
              <a:chOff x="0" y="0"/>
              <a:chExt cx="842621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42621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42621">
                    <a:moveTo>
                      <a:pt x="0" y="0"/>
                    </a:moveTo>
                    <a:lnTo>
                      <a:pt x="842621" y="0"/>
                    </a:lnTo>
                    <a:lnTo>
                      <a:pt x="842621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42621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29382" y="689043"/>
              <a:ext cx="4325216" cy="11422256"/>
              <a:chOff x="0" y="0"/>
              <a:chExt cx="854364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54364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54364">
                    <a:moveTo>
                      <a:pt x="0" y="0"/>
                    </a:moveTo>
                    <a:lnTo>
                      <a:pt x="854364" y="0"/>
                    </a:lnTo>
                    <a:lnTo>
                      <a:pt x="854364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54364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9249374" y="3703814"/>
            <a:ext cx="8310490" cy="4872024"/>
          </a:xfrm>
          <a:custGeom>
            <a:avLst/>
            <a:gdLst/>
            <a:ahLst/>
            <a:cxnLst/>
            <a:rect r="r" b="b" t="t" l="l"/>
            <a:pathLst>
              <a:path h="4872024" w="8310490">
                <a:moveTo>
                  <a:pt x="0" y="0"/>
                </a:moveTo>
                <a:lnTo>
                  <a:pt x="8310489" y="0"/>
                </a:lnTo>
                <a:lnTo>
                  <a:pt x="8310489" y="4872024"/>
                </a:lnTo>
                <a:lnTo>
                  <a:pt x="0" y="487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45283" y="3930758"/>
            <a:ext cx="4636100" cy="3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910762" y="3928645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70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10762" y="7007786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186438"/>
            <a:ext cx="13870891" cy="127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TIPOS DE ENTORNOS VIRTUALES </a:t>
            </a:r>
          </a:p>
          <a:p>
            <a:pPr algn="l">
              <a:lnSpc>
                <a:spcPts val="5016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308643" y="2747556"/>
            <a:ext cx="5884255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32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Entornos inmersivos</a:t>
            </a:r>
            <a:r>
              <a:rPr lang="en-US" sz="32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01408" y="3540565"/>
            <a:ext cx="5552666" cy="232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5"/>
              </a:lnSpc>
            </a:pP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 </a:t>
            </a: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entornos virtuales que ofrecen una experiencia altamente realista e interactiva</a:t>
            </a:r>
            <a:r>
              <a:rPr lang="en-US" sz="20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haciendo que los usuarios sientan una fuerte sensación de "presencia", como si realmente formaran parte del entorno digital.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01408" y="6677925"/>
            <a:ext cx="5167781" cy="237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3"/>
              </a:lnSpc>
            </a:pPr>
            <a:r>
              <a:rPr lang="en-US" sz="17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 simuladores por computadora, con el que el usuario puede interactuar mediante cascos o gafas</a:t>
            </a:r>
          </a:p>
          <a:p>
            <a:pPr algn="just">
              <a:lnSpc>
                <a:spcPts val="2763"/>
              </a:lnSpc>
            </a:pPr>
            <a:r>
              <a:rPr lang="en-US" sz="17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Realidad Aumentada (RA):Precisión 3D y interacción en tiempo real </a:t>
            </a:r>
          </a:p>
          <a:p>
            <a:pPr algn="just">
              <a:lnSpc>
                <a:spcPts val="2763"/>
              </a:lnSpc>
            </a:pPr>
            <a:r>
              <a:rPr lang="en-US" sz="17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Realidad Mixta (RM):Tecnología que fusiona los mundos real y digital en tiempo real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08643" y="6035051"/>
            <a:ext cx="5884255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32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Realidad Virtual (RV)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6903146" cy="388302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903146" cy="3883020"/>
              </a:xfrm>
              <a:custGeom>
                <a:avLst/>
                <a:gdLst/>
                <a:ahLst/>
                <a:cxnLst/>
                <a:rect r="r" b="b" t="t" l="l"/>
                <a:pathLst>
                  <a:path h="3883020" w="6903146">
                    <a:moveTo>
                      <a:pt x="0" y="0"/>
                    </a:moveTo>
                    <a:lnTo>
                      <a:pt x="6903146" y="0"/>
                    </a:lnTo>
                    <a:lnTo>
                      <a:pt x="6903146" y="3883020"/>
                    </a:lnTo>
                    <a:lnTo>
                      <a:pt x="0" y="388302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903146" cy="3911595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13493"/>
              <a:ext cx="23748659" cy="13039984"/>
              <a:chOff x="0" y="0"/>
              <a:chExt cx="6723280" cy="36916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23280" cy="3691639"/>
              </a:xfrm>
              <a:custGeom>
                <a:avLst/>
                <a:gdLst/>
                <a:ahLst/>
                <a:cxnLst/>
                <a:rect r="r" b="b" t="t" l="l"/>
                <a:pathLst>
                  <a:path h="3691639" w="6723280">
                    <a:moveTo>
                      <a:pt x="0" y="0"/>
                    </a:moveTo>
                    <a:lnTo>
                      <a:pt x="6723280" y="0"/>
                    </a:lnTo>
                    <a:lnTo>
                      <a:pt x="6723280" y="3691639"/>
                    </a:lnTo>
                    <a:lnTo>
                      <a:pt x="0" y="369163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723280" cy="372021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7124"/>
              <a:ext cx="23011770" cy="12227143"/>
              <a:chOff x="0" y="0"/>
              <a:chExt cx="6514666" cy="34615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14666" cy="3461522"/>
              </a:xfrm>
              <a:custGeom>
                <a:avLst/>
                <a:gdLst/>
                <a:ahLst/>
                <a:cxnLst/>
                <a:rect r="r" b="b" t="t" l="l"/>
                <a:pathLst>
                  <a:path h="3461522" w="6514666">
                    <a:moveTo>
                      <a:pt x="0" y="0"/>
                    </a:moveTo>
                    <a:lnTo>
                      <a:pt x="6514666" y="0"/>
                    </a:lnTo>
                    <a:lnTo>
                      <a:pt x="6514666" y="3461522"/>
                    </a:lnTo>
                    <a:lnTo>
                      <a:pt x="0" y="346152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514666" cy="349009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311982" cy="13716000"/>
              <a:chOff x="0" y="0"/>
              <a:chExt cx="847625" cy="269621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47625" cy="2696214"/>
              </a:xfrm>
              <a:custGeom>
                <a:avLst/>
                <a:gdLst/>
                <a:ahLst/>
                <a:cxnLst/>
                <a:rect r="r" b="b" t="t" l="l"/>
                <a:pathLst>
                  <a:path h="2696214" w="847625">
                    <a:moveTo>
                      <a:pt x="0" y="0"/>
                    </a:moveTo>
                    <a:lnTo>
                      <a:pt x="847625" y="0"/>
                    </a:lnTo>
                    <a:lnTo>
                      <a:pt x="847625" y="2696214"/>
                    </a:lnTo>
                    <a:lnTo>
                      <a:pt x="0" y="2696214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47625" cy="27247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3030" y="339916"/>
              <a:ext cx="4311982" cy="12980179"/>
              <a:chOff x="0" y="0"/>
              <a:chExt cx="847625" cy="255157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47625" cy="2551571"/>
              </a:xfrm>
              <a:custGeom>
                <a:avLst/>
                <a:gdLst/>
                <a:ahLst/>
                <a:cxnLst/>
                <a:rect r="r" b="b" t="t" l="l"/>
                <a:pathLst>
                  <a:path h="2551571" w="847625">
                    <a:moveTo>
                      <a:pt x="0" y="0"/>
                    </a:moveTo>
                    <a:lnTo>
                      <a:pt x="847625" y="0"/>
                    </a:lnTo>
                    <a:lnTo>
                      <a:pt x="847625" y="2551571"/>
                    </a:lnTo>
                    <a:lnTo>
                      <a:pt x="0" y="255157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47625" cy="2580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36200" y="736787"/>
              <a:ext cx="4372075" cy="12213698"/>
              <a:chOff x="0" y="0"/>
              <a:chExt cx="859438" cy="24009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59438" cy="2400900"/>
              </a:xfrm>
              <a:custGeom>
                <a:avLst/>
                <a:gdLst/>
                <a:ahLst/>
                <a:cxnLst/>
                <a:rect r="r" b="b" t="t" l="l"/>
                <a:pathLst>
                  <a:path h="2400900" w="859438">
                    <a:moveTo>
                      <a:pt x="0" y="0"/>
                    </a:moveTo>
                    <a:lnTo>
                      <a:pt x="859438" y="0"/>
                    </a:lnTo>
                    <a:lnTo>
                      <a:pt x="859438" y="2400900"/>
                    </a:lnTo>
                    <a:lnTo>
                      <a:pt x="0" y="2400900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59438" cy="242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3045283" y="3930758"/>
            <a:ext cx="4636100" cy="3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186438"/>
            <a:ext cx="13870891" cy="127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IMPACTOS EN LA SOCIEDAD ACTUAL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5895" y="3266501"/>
            <a:ext cx="6061951" cy="645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4039" indent="-212020" lvl="1">
              <a:lnSpc>
                <a:spcPts val="3024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Permiten el contacto instantáneo con personas de todo el mundo, creando comunidades virtuales que brindan apoyo y fomentan la participación activa.</a:t>
            </a:r>
          </a:p>
          <a:p>
            <a:pPr algn="just">
              <a:lnSpc>
                <a:spcPts val="3024"/>
              </a:lnSpc>
            </a:pPr>
          </a:p>
          <a:p>
            <a:pPr algn="just" marL="424039" indent="-212020" lvl="1">
              <a:lnSpc>
                <a:spcPts val="3024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Facilitan el acceso a una gran cantidad de información y recursos educativos.</a:t>
            </a:r>
          </a:p>
          <a:p>
            <a:pPr algn="just">
              <a:lnSpc>
                <a:spcPts val="3024"/>
              </a:lnSpc>
            </a:pPr>
          </a:p>
          <a:p>
            <a:pPr algn="just" marL="424039" indent="-212020" lvl="1">
              <a:lnSpc>
                <a:spcPts val="3024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Ofrecen experiencias de aprendizaje más personalizadas, con herramientas para la interacción, seguimiento y evaluación, mejorando la calidad educativa y la motivación estudiantil. </a:t>
            </a:r>
          </a:p>
          <a:p>
            <a:pPr algn="just">
              <a:lnSpc>
                <a:spcPts val="3024"/>
              </a:lnSpc>
            </a:pPr>
          </a:p>
          <a:p>
            <a:pPr algn="just" marL="424039" indent="-212020" lvl="1">
              <a:lnSpc>
                <a:spcPts val="3024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Flexibilidad laboral</a:t>
            </a:r>
          </a:p>
          <a:p>
            <a:pPr algn="just">
              <a:lnSpc>
                <a:spcPts val="3024"/>
              </a:lnSpc>
            </a:pPr>
          </a:p>
          <a:p>
            <a:pPr algn="just">
              <a:lnSpc>
                <a:spcPts val="302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231341" y="3271748"/>
            <a:ext cx="6104709" cy="43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833" indent="-200917" lvl="1">
              <a:lnSpc>
                <a:spcPts val="2866"/>
              </a:lnSpc>
              <a:buFont typeface="Arial"/>
              <a:buChar char="•"/>
            </a:pPr>
            <a:r>
              <a:rPr lang="en-US" sz="18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falta de infraestructura y acceso tecnológico para ciertos grupos de la población.</a:t>
            </a:r>
          </a:p>
          <a:p>
            <a:pPr algn="l">
              <a:lnSpc>
                <a:spcPts val="2866"/>
              </a:lnSpc>
            </a:pPr>
          </a:p>
          <a:p>
            <a:pPr algn="l" marL="401833" indent="-200917" lvl="1">
              <a:lnSpc>
                <a:spcPts val="2866"/>
              </a:lnSpc>
              <a:buFont typeface="Arial"/>
              <a:buChar char="•"/>
            </a:pPr>
            <a:r>
              <a:rPr lang="en-US" sz="18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Falta de capacitación tecnológica son obstáculos significativos tanto para educadores como para estudiantes.</a:t>
            </a:r>
          </a:p>
          <a:p>
            <a:pPr algn="l">
              <a:lnSpc>
                <a:spcPts val="2866"/>
              </a:lnSpc>
            </a:pPr>
          </a:p>
          <a:p>
            <a:pPr algn="l" marL="401833" indent="-200917" lvl="1">
              <a:lnSpc>
                <a:spcPts val="2866"/>
              </a:lnSpc>
              <a:buFont typeface="Arial"/>
              <a:buChar char="•"/>
            </a:pPr>
            <a:r>
              <a:rPr lang="en-US" sz="18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EI impacto emocional , estos espacios pueden generar sentimientos de inseguridad y angustia en algunos grupos de usuarios. </a:t>
            </a:r>
          </a:p>
          <a:p>
            <a:pPr algn="just">
              <a:lnSpc>
                <a:spcPts val="2866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397610" y="2568239"/>
            <a:ext cx="3858520" cy="55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1"/>
              </a:lnSpc>
            </a:pPr>
            <a:r>
              <a:rPr lang="en-US" sz="302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Positivos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9780" y="2568239"/>
            <a:ext cx="3858520" cy="55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1"/>
              </a:lnSpc>
            </a:pPr>
            <a:r>
              <a:rPr lang="en-US" sz="302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Negativos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105885"/>
            <a:chOff x="0" y="0"/>
            <a:chExt cx="24384000" cy="134745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272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21500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6665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9731266" y="880343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4272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5"/>
                  </a:lnTo>
                  <a:lnTo>
                    <a:pt x="0" y="465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9731266" y="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821779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5"/>
                  </a:lnTo>
                  <a:lnTo>
                    <a:pt x="0" y="465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4357835"/>
            <a:ext cx="3156163" cy="2333308"/>
          </a:xfrm>
          <a:custGeom>
            <a:avLst/>
            <a:gdLst/>
            <a:ahLst/>
            <a:cxnLst/>
            <a:rect r="r" b="b" t="t" l="l"/>
            <a:pathLst>
              <a:path h="2333308" w="3156163">
                <a:moveTo>
                  <a:pt x="0" y="0"/>
                </a:moveTo>
                <a:lnTo>
                  <a:pt x="3156163" y="0"/>
                </a:lnTo>
                <a:lnTo>
                  <a:pt x="3156163" y="2333308"/>
                </a:lnTo>
                <a:lnTo>
                  <a:pt x="0" y="233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187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7821275"/>
            <a:ext cx="3439612" cy="1960675"/>
          </a:xfrm>
          <a:custGeom>
            <a:avLst/>
            <a:gdLst/>
            <a:ahLst/>
            <a:cxnLst/>
            <a:rect r="r" b="b" t="t" l="l"/>
            <a:pathLst>
              <a:path h="1960675" w="3439612">
                <a:moveTo>
                  <a:pt x="0" y="0"/>
                </a:moveTo>
                <a:lnTo>
                  <a:pt x="3439612" y="0"/>
                </a:lnTo>
                <a:lnTo>
                  <a:pt x="3439612" y="1960675"/>
                </a:lnTo>
                <a:lnTo>
                  <a:pt x="0" y="1960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38691" y="5524489"/>
            <a:ext cx="4270243" cy="1760386"/>
          </a:xfrm>
          <a:custGeom>
            <a:avLst/>
            <a:gdLst/>
            <a:ahLst/>
            <a:cxnLst/>
            <a:rect r="r" b="b" t="t" l="l"/>
            <a:pathLst>
              <a:path h="1760386" w="4270243">
                <a:moveTo>
                  <a:pt x="0" y="0"/>
                </a:moveTo>
                <a:lnTo>
                  <a:pt x="4270243" y="0"/>
                </a:lnTo>
                <a:lnTo>
                  <a:pt x="4270243" y="1760386"/>
                </a:lnTo>
                <a:lnTo>
                  <a:pt x="0" y="1760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188277" y="895583"/>
            <a:ext cx="11528742" cy="127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COMO CREAR UN ENTORNO                  </a:t>
            </a:r>
          </a:p>
          <a:p>
            <a:pPr algn="l">
              <a:lnSpc>
                <a:spcPts val="5016"/>
              </a:lnSpc>
            </a:pPr>
            <a:r>
              <a:rPr lang="en-US" b="true" sz="4400" spc="1416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VIRTUAL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1912" y="2311180"/>
            <a:ext cx="3872882" cy="112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4039" indent="-212020" lvl="1">
              <a:lnSpc>
                <a:spcPts val="3024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PASO 1</a:t>
            </a:r>
          </a:p>
          <a:p>
            <a:pPr algn="just">
              <a:lnSpc>
                <a:spcPts val="3024"/>
              </a:lnSpc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Abrir la terminal en la carpeta de tu 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57416" y="2311180"/>
            <a:ext cx="3428945" cy="112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4039" indent="-212020" lvl="1">
              <a:lnSpc>
                <a:spcPts val="3024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PASO 2</a:t>
            </a:r>
          </a:p>
          <a:p>
            <a:pPr algn="just">
              <a:lnSpc>
                <a:spcPts val="3024"/>
              </a:lnSpc>
            </a:pPr>
            <a:r>
              <a:rPr lang="en-US" sz="19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 el entorno virtual : python -m venv env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62762" y="2320705"/>
            <a:ext cx="5055259" cy="150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7528" indent="-213764" lvl="1">
              <a:lnSpc>
                <a:spcPts val="3049"/>
              </a:lnSpc>
              <a:buFont typeface="Arial"/>
              <a:buChar char="•"/>
            </a:pPr>
            <a:r>
              <a:rPr lang="en-US" sz="19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PASO 3</a:t>
            </a:r>
          </a:p>
          <a:p>
            <a:pPr algn="just">
              <a:lnSpc>
                <a:spcPts val="3049"/>
              </a:lnSpc>
            </a:pPr>
            <a:r>
              <a:rPr lang="en-US" sz="19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Activar el entorno virtual :</a:t>
            </a:r>
          </a:p>
          <a:p>
            <a:pPr algn="just">
              <a:lnSpc>
                <a:spcPts val="3049"/>
              </a:lnSpc>
            </a:pPr>
            <a:r>
              <a:rPr lang="en-US" sz="19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Windows :.venv\Scripts\activate</a:t>
            </a:r>
          </a:p>
          <a:p>
            <a:pPr algn="just">
              <a:lnSpc>
                <a:spcPts val="3049"/>
              </a:lnSpc>
            </a:pPr>
            <a:r>
              <a:rPr lang="en-US" sz="19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Linux/Max : source env/bin/activate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562762" y="4357835"/>
            <a:ext cx="4696531" cy="2333308"/>
          </a:xfrm>
          <a:custGeom>
            <a:avLst/>
            <a:gdLst/>
            <a:ahLst/>
            <a:cxnLst/>
            <a:rect r="r" b="b" t="t" l="l"/>
            <a:pathLst>
              <a:path h="2333308" w="4696531">
                <a:moveTo>
                  <a:pt x="0" y="0"/>
                </a:moveTo>
                <a:lnTo>
                  <a:pt x="4696531" y="0"/>
                </a:lnTo>
                <a:lnTo>
                  <a:pt x="4696531" y="2333308"/>
                </a:lnTo>
                <a:lnTo>
                  <a:pt x="0" y="23333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72" r="0" b="-157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62762" y="7118285"/>
            <a:ext cx="4721060" cy="2140015"/>
          </a:xfrm>
          <a:custGeom>
            <a:avLst/>
            <a:gdLst/>
            <a:ahLst/>
            <a:cxnLst/>
            <a:rect r="r" b="b" t="t" l="l"/>
            <a:pathLst>
              <a:path h="2140015" w="4721060">
                <a:moveTo>
                  <a:pt x="0" y="0"/>
                </a:moveTo>
                <a:lnTo>
                  <a:pt x="4721060" y="0"/>
                </a:lnTo>
                <a:lnTo>
                  <a:pt x="4721060" y="2140015"/>
                </a:lnTo>
                <a:lnTo>
                  <a:pt x="0" y="21400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9" t="-2153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4278"/>
            <a:ext cx="18288000" cy="10105885"/>
            <a:chOff x="0" y="0"/>
            <a:chExt cx="24384000" cy="134745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272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21500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6665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9731266" y="880343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4272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5"/>
                  </a:lnTo>
                  <a:lnTo>
                    <a:pt x="0" y="465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9731266" y="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821779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5"/>
                  </a:lnTo>
                  <a:lnTo>
                    <a:pt x="0" y="465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49904" y="3369070"/>
            <a:ext cx="7768065" cy="442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6093" indent="-208047" lvl="1">
              <a:lnSpc>
                <a:spcPts val="2967"/>
              </a:lnSpc>
              <a:buFont typeface="Arial"/>
              <a:buChar char="•"/>
            </a:pPr>
            <a:r>
              <a:rPr lang="en-US" sz="19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Windows, los desarrolladores pueden utilizar gestores de paquetes como Chocolatey o NuGet para instalar y gestionar paquetes.</a:t>
            </a:r>
          </a:p>
          <a:p>
            <a:pPr algn="just" marL="416093" indent="-208047" lvl="1">
              <a:lnSpc>
                <a:spcPts val="2967"/>
              </a:lnSpc>
              <a:buFont typeface="Arial"/>
              <a:buChar char="•"/>
            </a:pPr>
            <a:r>
              <a:rPr lang="en-US" sz="19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Crear aplicaciones para Windows utilizando lenguajes de programación como C#, C++ y JavaScript.</a:t>
            </a:r>
          </a:p>
          <a:p>
            <a:pPr algn="just" marL="416093" indent="-208047" lvl="1">
              <a:lnSpc>
                <a:spcPts val="2967"/>
              </a:lnSpc>
              <a:buFont typeface="Arial"/>
              <a:buChar char="•"/>
            </a:pPr>
            <a:r>
              <a:rPr lang="en-US" sz="19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Windows Terminal ofrece características como pestañas y personalización.</a:t>
            </a:r>
          </a:p>
          <a:p>
            <a:pPr algn="just" marL="416093" indent="-208047" lvl="1">
              <a:lnSpc>
                <a:spcPts val="2967"/>
              </a:lnSpc>
              <a:buFont typeface="Arial"/>
              <a:buChar char="•"/>
            </a:pPr>
            <a:r>
              <a:rPr lang="en-US" sz="19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Visual Studio es un IDE muy popular para desarrolladores de Windows, ya que ofrece características específicas para desarrollar aplicaciones de Windows.</a:t>
            </a:r>
          </a:p>
          <a:p>
            <a:pPr algn="just" marL="416093" indent="-208047" lvl="1">
              <a:lnSpc>
                <a:spcPts val="2967"/>
              </a:lnSpc>
              <a:buFont typeface="Arial"/>
              <a:buChar char="•"/>
            </a:pPr>
            <a:r>
              <a:rPr lang="en-US" sz="19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NET y Windows API para crear aplicaciones que sean específicas para Windows.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1188" y="1047750"/>
            <a:ext cx="15580699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spc="128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DIFERENCIA EN EL ENTORNO DE DESARROLLO Y PROGRAMACIÓN DE  MAC/LINUX Y WINDOWS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1537" y="3369070"/>
            <a:ext cx="7138259" cy="542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873" indent="-187936" lvl="1">
              <a:lnSpc>
                <a:spcPts val="2681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Mac/Linux, los desarrolladores suelen preferir IDEs como Visual Studio Code, IntelliJ IDEA, Sublime Text y Atom. Estos IDEs suelen ser altamente personalizables y ofrecen características avanzadas de edición de código.</a:t>
            </a:r>
          </a:p>
          <a:p>
            <a:pPr algn="just" marL="375873" indent="-187936" lvl="1">
              <a:lnSpc>
                <a:spcPts val="2681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terminal es una herramienta fundamental  suelen utilizar comandos para realizar tareas como la gestión de paquetes, la compilación de código y la automatización de tareas.</a:t>
            </a:r>
          </a:p>
          <a:p>
            <a:pPr algn="just" marL="375873" indent="-187936" lvl="1">
              <a:lnSpc>
                <a:spcPts val="2681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Linux, los gestores de paquetes varían según la distribución.</a:t>
            </a:r>
          </a:p>
          <a:p>
            <a:pPr algn="just" marL="375873" indent="-187936" lvl="1">
              <a:lnSpc>
                <a:spcPts val="2681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Los desarrolladores pueden crear aplicaciones para Linux y otras plataformas utilizando lenguajes de programación como C, C++, Java y Python.</a:t>
            </a:r>
          </a:p>
          <a:p>
            <a:pPr algn="just" marL="375873" indent="-187936" lvl="1">
              <a:lnSpc>
                <a:spcPts val="2681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Los desarrolladores suelen enfocarse en crear aplicaciones que sean compatibles con múltiples plataformas, utilizando tecnologías como Docker y virtualización.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4189"/>
            <a:ext cx="18288000" cy="10105885"/>
            <a:chOff x="0" y="0"/>
            <a:chExt cx="24384000" cy="134745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272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21500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36665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9731266" y="880343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4272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5"/>
                  </a:lnTo>
                  <a:lnTo>
                    <a:pt x="0" y="465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9731266" y="0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4"/>
                  </a:lnTo>
                  <a:lnTo>
                    <a:pt x="0" y="465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821779"/>
              <a:ext cx="4652734" cy="4652734"/>
            </a:xfrm>
            <a:custGeom>
              <a:avLst/>
              <a:gdLst/>
              <a:ahLst/>
              <a:cxnLst/>
              <a:rect r="r" b="b" t="t" l="l"/>
              <a:pathLst>
                <a:path h="4652734" w="4652734">
                  <a:moveTo>
                    <a:pt x="0" y="0"/>
                  </a:moveTo>
                  <a:lnTo>
                    <a:pt x="4652734" y="0"/>
                  </a:lnTo>
                  <a:lnTo>
                    <a:pt x="4652734" y="4652735"/>
                  </a:lnTo>
                  <a:lnTo>
                    <a:pt x="0" y="465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256593" y="2304200"/>
            <a:ext cx="1774815" cy="1348859"/>
          </a:xfrm>
          <a:custGeom>
            <a:avLst/>
            <a:gdLst/>
            <a:ahLst/>
            <a:cxnLst/>
            <a:rect r="r" b="b" t="t" l="l"/>
            <a:pathLst>
              <a:path h="1348859" w="1774815">
                <a:moveTo>
                  <a:pt x="0" y="0"/>
                </a:moveTo>
                <a:lnTo>
                  <a:pt x="1774814" y="0"/>
                </a:lnTo>
                <a:lnTo>
                  <a:pt x="1774814" y="1348859"/>
                </a:lnTo>
                <a:lnTo>
                  <a:pt x="0" y="1348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88191" y="4157884"/>
            <a:ext cx="10676647" cy="240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0538" indent="-300269" lvl="1">
              <a:lnSpc>
                <a:spcPts val="3866"/>
              </a:lnSpc>
              <a:buFont typeface="Arial"/>
              <a:buChar char="•"/>
            </a:pPr>
            <a:r>
              <a:rPr lang="en-US" sz="278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"Tenemos que usar la tecnología en todas las formas posibles para transformar la educación, pero no podemos olvidar que el factor humano sigue siendo el más importante" </a:t>
            </a:r>
          </a:p>
          <a:p>
            <a:pPr algn="just">
              <a:lnSpc>
                <a:spcPts val="386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807" y="450195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22078" y="1813429"/>
            <a:ext cx="10043844" cy="115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68" spc="2533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7828" y="3895510"/>
            <a:ext cx="12761667" cy="393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8"/>
              </a:lnSpc>
            </a:pPr>
            <a:r>
              <a:rPr lang="en-US" sz="24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virtud de lo presentado hasta aquí, es claro que el avance de los entornos virtuales han sido fundamentales para generar una   transformación digital , el cual s</a:t>
            </a:r>
            <a:r>
              <a:rPr lang="en-US" sz="24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capaces de ofrecer muchas herramientas y beneficios a quienes las utilizan, pero esto solo es así cuando los usuarios las aprovechan correctamente y las utilizan con conciencia para no generar una dependencia de la inteligencia artificial.</a:t>
            </a:r>
          </a:p>
          <a:p>
            <a:pPr algn="just">
              <a:lnSpc>
                <a:spcPts val="3958"/>
              </a:lnSpc>
            </a:pPr>
          </a:p>
          <a:p>
            <a:pPr algn="just">
              <a:lnSpc>
                <a:spcPts val="3958"/>
              </a:lnSpc>
            </a:pPr>
            <a:r>
              <a:rPr lang="en-US" sz="24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4499190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GRACIAS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2014" y="329475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MUCHAS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DAG6BFSj7Yk</dc:identifier>
  <dcterms:modified xsi:type="dcterms:W3CDTF">2011-08-01T06:04:30Z</dcterms:modified>
  <cp:revision>1</cp:revision>
  <dc:title>Propuesta</dc:title>
</cp:coreProperties>
</file>